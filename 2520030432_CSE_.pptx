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60" r:id="rId2"/>
  </p:sldMasterIdLst>
  <p:notesMasterIdLst>
    <p:notesMasterId r:id="rId21"/>
  </p:notesMasterIdLst>
  <p:handoutMasterIdLst>
    <p:handoutMasterId r:id="rId22"/>
  </p:handoutMasterIdLst>
  <p:sldIdLst>
    <p:sldId id="261" r:id="rId3"/>
    <p:sldId id="314" r:id="rId4"/>
    <p:sldId id="322" r:id="rId5"/>
    <p:sldId id="323" r:id="rId6"/>
    <p:sldId id="266" r:id="rId7"/>
    <p:sldId id="341" r:id="rId8"/>
    <p:sldId id="342" r:id="rId9"/>
    <p:sldId id="343" r:id="rId10"/>
    <p:sldId id="344" r:id="rId11"/>
    <p:sldId id="345" r:id="rId12"/>
    <p:sldId id="346" r:id="rId13"/>
    <p:sldId id="340" r:id="rId14"/>
    <p:sldId id="349" r:id="rId15"/>
    <p:sldId id="347" r:id="rId16"/>
    <p:sldId id="348" r:id="rId17"/>
    <p:sldId id="351" r:id="rId18"/>
    <p:sldId id="350" r:id="rId19"/>
    <p:sldId id="332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1189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3BCDB23-F71F-45AC-95C4-53EA35851854}" v="25" dt="2026-03-04T03:42:43.08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582"/>
    <p:restoredTop sz="95833"/>
  </p:normalViewPr>
  <p:slideViewPr>
    <p:cSldViewPr snapToGrid="0" snapToObjects="1">
      <p:cViewPr varScale="1">
        <p:scale>
          <a:sx n="82" d="100"/>
          <a:sy n="82" d="100"/>
        </p:scale>
        <p:origin x="509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51" d="100"/>
          <a:sy n="51" d="100"/>
        </p:scale>
        <p:origin x="3208" y="2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tableStyles" Target="tableStyles.xml"/><Relationship Id="rId3" Type="http://schemas.openxmlformats.org/officeDocument/2006/relationships/slide" Target="slides/slide1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handoutMaster" Target="handoutMasters/handoutMaster1.xml"/><Relationship Id="rId27" Type="http://schemas.microsoft.com/office/2015/10/relationships/revisionInfo" Target="revisionInfo.xml"/></Relationships>
</file>

<file path=ppt/handoutMasters/_rels/handoutMaster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8EFD0E32-84B7-61F7-BC6E-7F3D3E58F42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28D96D9-5F98-A44D-2018-D6A2A308A4F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69F6064-4237-BA4C-A655-B64A9E0DF723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A93AFF6-B32C-BF80-479E-15EDD755C5E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11E1A79-2016-95C1-5829-B295A2C9857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EFBAABA-A336-9B4F-BB34-8D7F4005576F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E12229D-753E-D112-EA38-F8EB6301E6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116374" cy="4587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058581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5A854B6-73EE-3647-B9F0-9FDDAF047BDA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329816-4D5E-3B44-810B-F5C416F14A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71552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227E06-5BF0-54B9-FB5D-CFB52D43BF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26EA4E6-D507-DC8D-31AA-A4CB32D7CEC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C99788-2E86-FADA-072C-884B026156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F734CB-DFAB-944A-8037-9643745D8F20}" type="datetime1">
              <a:rPr lang="en-IN" smtClean="0"/>
              <a:t>12-03-2026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4D1ADA-8991-D408-DA0A-FE3B043FE8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7DF78D-056F-7C9E-8F10-6820946248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32911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4DA370-C77E-4354-33A4-1D2D9DDD6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3FE7F8-1A57-17F5-243A-454005CCDF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EAE72D-6D76-FAB8-D597-99BF2087AA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5272DB-0103-AF4C-A22D-07421EC406AD}" type="datetime1">
              <a:rPr lang="en-IN" smtClean="0"/>
              <a:t>12-03-2026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860C41-C703-1443-60E7-2BEF34D362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BB3600-770E-6D67-2A66-D2FECF5D3B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E776DCD-546C-A1AC-C961-3F3EEC504416}"/>
              </a:ext>
            </a:extLst>
          </p:cNvPr>
          <p:cNvSpPr/>
          <p:nvPr userDrawn="1"/>
        </p:nvSpPr>
        <p:spPr>
          <a:xfrm>
            <a:off x="87228" y="60325"/>
            <a:ext cx="1532022" cy="620712"/>
          </a:xfrm>
          <a:prstGeom prst="rect">
            <a:avLst/>
          </a:prstGeom>
          <a:blipFill dpi="0" rotWithShape="1">
            <a:blip r:embed="rId2">
              <a:alphaModFix amt="78101"/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06417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4A5DA9-698C-D133-BCF7-93A02E210C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A85215-9C62-1486-DEC7-AF8E59725B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D292FD-C465-3FCB-1CEB-331C31A973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8335F-2E5B-B14E-9706-E237C81E4155}" type="datetime1">
              <a:rPr lang="en-IN" smtClean="0"/>
              <a:t>12-03-2026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196C18-4538-A1F2-0B35-7684E5B30A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05BEFA-16A3-B084-9011-B7E85C9C92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43703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E3A91F-6631-AA20-E58B-064235B6DD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0029CD-C8C6-CEFE-D059-40BEA299756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175D9AB-9E5E-59E2-9DA3-6C54D45EAC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A3C372B-55E2-4467-1C5C-88EAE72839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BD6649-7156-A341-B9F2-F045B7551E13}" type="datetime1">
              <a:rPr lang="en-IN" smtClean="0"/>
              <a:t>12-03-2026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0897BD-CB93-AC5A-9B15-FD7F4D9529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5540F5-8BB9-4C4C-626E-5D45C97E37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82530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D68A3B-B4EE-2816-3ADC-1938541424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1AF86E-35F8-453B-F58E-48D8C4903A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3D8923-FBC0-8866-8350-696FB3D22B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6545281-3CB5-361A-7D56-C6E37E290D3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9F62343-9DB8-07DC-AD19-22AE6A7E5D6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FEB0191-CD7B-6170-8655-A3CD1009BE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977CD1-E97C-BA41-8E49-9F39B98FFBE8}" type="datetime1">
              <a:rPr lang="en-IN" smtClean="0"/>
              <a:t>12-03-2026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D680C4C-B6E8-81B1-E2F5-D6264E3F6A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0C8B11F-5860-03B4-E71F-3467444F9A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80055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D7A6C5-1A49-C01E-B839-45967150D9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6C47471-9D6F-27AE-9B05-71D6BF96E3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DDBCA1-9406-7A44-8A76-1046B4040777}" type="datetime1">
              <a:rPr lang="en-IN" smtClean="0"/>
              <a:t>12-03-2026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75AFD67-19CE-C1CD-207C-EF612C5A6F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80D7506-CEE9-31E5-7D10-A0BD1B2B0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58805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12BBBBF-B095-FC7E-61BE-572DFB7B12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FB085D-B69B-9C45-93A5-77F47F2F6792}" type="datetime1">
              <a:rPr lang="en-IN" smtClean="0"/>
              <a:t>12-03-2026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47555D4-8ECB-AFFE-0E72-A206E4098E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E9EB7F-0F36-6AF2-5A6E-D350360EF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39754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AF3453-54A8-457E-0F66-9BE958D915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CE50AE-B8BE-E1FF-F3BA-8093082215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1DA6038-C8B1-F7F2-5CA8-15CFE38CBD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097CAE-AF61-8AFD-5350-97D8044E12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1B69B7-E8EF-6346-9390-671C5B22ACF3}" type="datetime1">
              <a:rPr lang="en-IN" smtClean="0"/>
              <a:t>12-03-2026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9E989E-AF43-DFDB-D9DD-E85DED3C09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FBCAA9-93EB-8A4D-BB9C-2479D59350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04234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BCE57A-1FB8-E230-296B-702500A0D4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C470CF4-1245-8E91-196B-2297C07C97E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FC54EA7-CAD7-C04A-6487-F7D1660330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F31731-B315-1CCB-7EEF-B7C7EC9254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20709D-BF3C-5743-B60D-B01C16014A7B}" type="datetime1">
              <a:rPr lang="en-IN" smtClean="0"/>
              <a:t>12-03-2026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4DE31E-F8C7-4C00-C40D-FE2821B706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D7C9369-3918-E39E-9B60-A57179D049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04632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A9F7F1-0136-E40C-5B0F-C1D42F6EFB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A08B89F-EA4C-AA4F-0EB2-C715E5B0D67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C2AEC3-3D5C-B4D8-ADAC-C6249EB46A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4444B0-6575-954F-AAA2-CB0D0417F745}" type="datetime1">
              <a:rPr lang="en-IN" smtClean="0"/>
              <a:t>12-03-2026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19FED2-229B-3728-C7BA-7E8D51577A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8B8F22-95FA-4A5E-31CC-C3851B52EF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26131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C6F1B25-2FA5-C4F6-09E8-D6F7A8DF83D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61113B0-02D5-BBE3-31A5-4739616298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9CAE10-6B7D-C48F-F3FF-419AD4413A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E7A436-9AA5-6C4B-AFF1-C34F60A9AB89}" type="datetime1">
              <a:rPr lang="en-IN" smtClean="0"/>
              <a:t>12-03-2026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52D582-0634-2511-6F7E-7229EC0722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BAE7E1-0525-6C8B-2077-B55EFBEA69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62507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F2A4A3-2E21-E418-73DE-E22247EE41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3C87DE1-CAF2-229C-5776-9562B79560F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154DD8-14C4-ACB8-D444-27F005A4C5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F141C7-EF5A-1D4A-89F0-79C7DE818D53}" type="datetime1">
              <a:rPr lang="en-IN" smtClean="0"/>
              <a:t>12-03-2026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6BF891-4BCD-EC21-1259-8661D36C8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3951AF-D1A2-07A4-0B2A-7E9D6B416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685244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8CBFB9-B574-3DEB-F162-FE89B3802B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94B0E9-24AC-9760-0CBD-E5D0888E3F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C41205-CA2E-9649-1960-8F17E0E6D2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868A0C-C998-984C-ABE3-A33473D7CABD}" type="datetime1">
              <a:rPr lang="en-IN" smtClean="0"/>
              <a:t>12-03-2026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702BAD-D0DE-F254-BBD1-2AFE276BD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787769-B833-24E6-E30B-DCE74558A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719273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D24CF5-AE66-5FEF-8EEC-A630C8B290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528CE2-68D8-267B-C297-6117F0736A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25FFB0-0F78-AEB8-5AFB-EC779B9614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D2EF84-6667-8447-AC88-082F9D71D82C}" type="datetime1">
              <a:rPr lang="en-IN" smtClean="0"/>
              <a:t>12-03-2026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F3BE8E-E2EB-A8B6-21DD-9AB839A58A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4BE51E-49C9-6B3A-1C46-49212B5761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083761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53AF32-49A3-7BB1-C7E7-6C5D90D17A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C51BE1-060E-F420-83BA-C8AE9151CFB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B5265B4-44BE-C9BD-56AD-24359969A5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6262ECC-3BDB-BEA4-4B7F-1545B0DC3A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563FD6-5C64-304A-9680-469E8D83D1BF}" type="datetime1">
              <a:rPr lang="en-IN" smtClean="0"/>
              <a:t>12-03-2026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899311-B569-3D99-B257-5CEB03A687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AE828AD-34AD-9A23-4FFC-4C32387C94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146613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E56895-A3B7-F0FB-3CBE-59E564F229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29C285-ECC0-3375-66EF-B240D726BE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2DB153A-9265-EAEC-A55D-2519057330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4E62BD6-069B-567C-13A2-AD51A312FB5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60CFDC1-AF24-C301-0A26-DA099D8FF3D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22CB484-D858-5027-D2CF-125E103D2F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3985EC-8C41-0649-B43C-28421C497AA5}" type="datetime1">
              <a:rPr lang="en-IN" smtClean="0"/>
              <a:t>12-03-2026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8CD1DFD-AA21-1102-AD58-F0AB436172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058466D-C960-00E9-B91E-E20525158D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51666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C5EEF4A-08C3-1725-4505-63B90332E4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0D38A5-B84E-8DCB-3CEA-900D45C858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6F078D-01B0-9071-5546-6BFF4A071C6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85D85A-3465-384D-962A-D11BB8B39525}" type="datetime1">
              <a:rPr lang="en-IN" smtClean="0"/>
              <a:t>12-03-2026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063510-A0D8-83AF-2345-E0A8B79D5D6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0th REVIEW         173030211           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B51A12-6174-66E3-0415-DA607E50CD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08278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8B26EC2-0EF8-2F89-DF64-2685FD6393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E29FC3-B99D-0056-3798-159705D113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79F1E1-99D3-E959-A91B-BD6DF2599B4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F4C6E9-161C-B44B-AD70-8813DADCDED1}" type="datetime1">
              <a:rPr lang="en-IN" smtClean="0"/>
              <a:t>12-03-2026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EC7260-A9B7-9847-6D81-8C797C4D5A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0th REVIEW         173030211           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527894-99B0-6303-77B2-C1C210EE22F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84843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D45DB3B1-7702-A34D-B15A-E964B95D6F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/>
          <a:lstStyle/>
          <a:p>
            <a:pPr algn="ctr"/>
            <a:r>
              <a:rPr lang="en-US" b="1" dirty="0"/>
              <a:t>INSTRUCTIONS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0BAA4F36-AB00-F2C4-B47F-6381355DE6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93134"/>
            <a:ext cx="10515600" cy="4683829"/>
          </a:xfrm>
        </p:spPr>
        <p:txBody>
          <a:bodyPr>
            <a:normAutofit fontScale="92500" lnSpcReduction="10000"/>
          </a:bodyPr>
          <a:lstStyle/>
          <a:p>
            <a:r>
              <a:rPr lang="en-IN"/>
              <a:t>Use </a:t>
            </a:r>
            <a:r>
              <a:rPr lang="en-IN" dirty="0"/>
              <a:t>Font size 22 to 28 and Font Style </a:t>
            </a:r>
            <a:r>
              <a:rPr lang="en-IN" b="0" i="0" dirty="0">
                <a:solidFill>
                  <a:srgbClr val="0A0A0A"/>
                </a:solidFill>
                <a:effectLst/>
                <a:latin typeface="Google Sans"/>
              </a:rPr>
              <a:t>Times New Roman </a:t>
            </a:r>
            <a:r>
              <a:rPr lang="en-IN" dirty="0"/>
              <a:t>(body)</a:t>
            </a:r>
          </a:p>
          <a:p>
            <a:r>
              <a:rPr lang="en-IN" dirty="0"/>
              <a:t>Do not change the Template: Heading / Title of the slides</a:t>
            </a:r>
          </a:p>
          <a:p>
            <a:r>
              <a:rPr lang="en-IN" dirty="0"/>
              <a:t>Do not change font style or colours</a:t>
            </a:r>
          </a:p>
          <a:p>
            <a:r>
              <a:rPr lang="en-IN" dirty="0"/>
              <a:t>Do not copy paste paragraphs: use only Bullet Points</a:t>
            </a:r>
          </a:p>
          <a:p>
            <a:r>
              <a:rPr lang="en-IN" dirty="0"/>
              <a:t>Maximum slide Limit is 20 only</a:t>
            </a:r>
          </a:p>
          <a:p>
            <a:r>
              <a:rPr lang="en-IN" dirty="0"/>
              <a:t>As per the number of supervisor allotted adopt slide-2 or slide-3</a:t>
            </a:r>
          </a:p>
          <a:p>
            <a:r>
              <a:rPr lang="en-IN" dirty="0"/>
              <a:t>Please display the required meaningful Content or images or tables </a:t>
            </a:r>
          </a:p>
          <a:p>
            <a:r>
              <a:rPr lang="en-IN" dirty="0"/>
              <a:t>Change the footer accordingly using insert tab then click on header &amp; footer tab and edit it</a:t>
            </a:r>
          </a:p>
          <a:p>
            <a:r>
              <a:rPr lang="en-IN" dirty="0"/>
              <a:t>Save the PPT with Register No, Dept and Review no,  example: </a:t>
            </a:r>
            <a:r>
              <a:rPr lang="en-US" dirty="0"/>
              <a:t>23xxxxxxxxx_CSE</a:t>
            </a:r>
            <a:endParaRPr lang="en-IN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5C2420-26C9-65B4-41BA-D5CA69721C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DE338F-74DD-D142-8C58-9E4C5E66F6E8}" type="datetime1">
              <a:rPr lang="en-IN" smtClean="0"/>
              <a:t>12-03-2026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9B4454-96E6-70D8-1440-2142487397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173030211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827BAA-7E22-F268-D9DC-5E17D9155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13917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500A09-BF95-A121-71A4-33FFE91ACA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4057" y="136525"/>
            <a:ext cx="11543614" cy="1128381"/>
          </a:xfrm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2400" dirty="0">
                <a:solidFill>
                  <a:srgbClr val="0070C0"/>
                </a:solidFill>
                <a:latin typeface="+mn-lt"/>
                <a:cs typeface="Arial" panose="020B0604020202020204" pitchFamily="34" charset="0"/>
              </a:rPr>
              <a:t>Title: Student Personal Profile Web Portal</a:t>
            </a:r>
            <a:endParaRPr lang="en-US" sz="2400" dirty="0">
              <a:solidFill>
                <a:srgbClr val="FF0000"/>
              </a:solidFill>
              <a:latin typeface="+mn-lt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EAE0CE-45A1-A1FF-31F4-66CECAEF305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150130"/>
            <a:ext cx="10515600" cy="1097555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buNone/>
            </a:pPr>
            <a:r>
              <a:rPr lang="en-US" sz="9600" dirty="0"/>
              <a:t>Student Name: K ANUSRI</a:t>
            </a:r>
          </a:p>
          <a:p>
            <a:pPr marL="0" indent="0" algn="ctr">
              <a:buNone/>
            </a:pPr>
            <a:r>
              <a:rPr lang="en-US" sz="9600" dirty="0"/>
              <a:t>Student ID: 2520030432</a:t>
            </a:r>
            <a:endParaRPr lang="en-US" sz="2400" dirty="0"/>
          </a:p>
          <a:p>
            <a:pPr marL="0" indent="0" algn="ctr">
              <a:buNone/>
            </a:pPr>
            <a:r>
              <a:rPr lang="en-US" sz="11200" dirty="0"/>
              <a:t>Cluster:3</a:t>
            </a:r>
          </a:p>
          <a:p>
            <a:pPr marL="0" indent="0" algn="ctr">
              <a:buNone/>
            </a:pPr>
            <a:r>
              <a:rPr lang="en-US" sz="11200" dirty="0"/>
              <a:t>Section: 11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024CF11E-4EBB-004C-8FD7-152B8D16D8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ABCEED-36AB-D94A-B562-4D3E096B39D1}" type="datetime1">
              <a:rPr lang="en-IN" smtClean="0"/>
              <a:t>12-03-2026</a:t>
            </a:fld>
            <a:endParaRPr lang="en-US"/>
          </a:p>
        </p:txBody>
      </p:sp>
      <p:pic>
        <p:nvPicPr>
          <p:cNvPr id="12" name="Picture 11" descr="A picture containing shape&#10;&#10;Description automatically generated">
            <a:extLst>
              <a:ext uri="{FF2B5EF4-FFF2-40B4-BE49-F238E27FC236}">
                <a16:creationId xmlns:a16="http://schemas.microsoft.com/office/drawing/2014/main" id="{22EBCDF0-8C0C-C908-85EA-FD8A72825B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56361" y="5015918"/>
            <a:ext cx="1725712" cy="930978"/>
          </a:xfrm>
          <a:prstGeom prst="rect">
            <a:avLst/>
          </a:prstGeom>
        </p:spPr>
      </p:pic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3F9DE7D0-41AC-90DD-3065-235240261B1B}"/>
              </a:ext>
            </a:extLst>
          </p:cNvPr>
          <p:cNvSpPr txBox="1">
            <a:spLocks/>
          </p:cNvSpPr>
          <p:nvPr/>
        </p:nvSpPr>
        <p:spPr>
          <a:xfrm>
            <a:off x="838200" y="3332480"/>
            <a:ext cx="11199471" cy="1571945"/>
          </a:xfrm>
          <a:prstGeom prst="rect">
            <a:avLst/>
          </a:prstGeom>
        </p:spPr>
        <p:txBody>
          <a:bodyPr vert="horz" lIns="91440" tIns="45720" rIns="91440" bIns="45720" rtlCol="0">
            <a:normAutofit fontScale="2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8600" dirty="0"/>
              <a:t>Under the Guidance </a:t>
            </a:r>
          </a:p>
          <a:p>
            <a:pPr marL="0" indent="0" algn="ctr">
              <a:buNone/>
            </a:pPr>
            <a:r>
              <a:rPr lang="en-US" sz="8600" dirty="0"/>
              <a:t>of </a:t>
            </a:r>
            <a:endParaRPr lang="en-US" sz="8600" dirty="0">
              <a:solidFill>
                <a:srgbClr val="00B050"/>
              </a:solidFill>
            </a:endParaRPr>
          </a:p>
          <a:p>
            <a:pPr marL="0" indent="0" algn="ctr">
              <a:buNone/>
            </a:pPr>
            <a:r>
              <a:rPr lang="en-US" sz="8600" dirty="0">
                <a:solidFill>
                  <a:srgbClr val="00B050"/>
                </a:solidFill>
              </a:rPr>
              <a:t>Supervisor Name: TSP Madhuri</a:t>
            </a:r>
          </a:p>
          <a:p>
            <a:pPr marL="0" indent="0" algn="ctr">
              <a:buNone/>
            </a:pPr>
            <a:r>
              <a:rPr lang="en-US" sz="8600" dirty="0">
                <a:solidFill>
                  <a:srgbClr val="00B050"/>
                </a:solidFill>
              </a:rPr>
              <a:t>Assistant Professor</a:t>
            </a:r>
          </a:p>
          <a:p>
            <a:pPr marL="0" indent="0" algn="ctr">
              <a:buNone/>
            </a:pPr>
            <a:r>
              <a:rPr lang="en-US" sz="8600" dirty="0">
                <a:solidFill>
                  <a:srgbClr val="00B050"/>
                </a:solidFill>
              </a:rPr>
              <a:t>Department of CSE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2400" dirty="0">
              <a:solidFill>
                <a:srgbClr val="00B050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A4C03D2-3952-BF4D-18CA-C2C8547E2A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70163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D45DB3B1-7702-A34D-B15A-E964B95D6F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/>
          <a:lstStyle/>
          <a:p>
            <a:pPr algn="ctr"/>
            <a:r>
              <a:rPr lang="en-US" b="1" dirty="0"/>
              <a:t>OUTLINE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0BAA4F36-AB00-F2C4-B47F-6381355DE6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93134"/>
            <a:ext cx="10515600" cy="4683829"/>
          </a:xfrm>
        </p:spPr>
        <p:txBody>
          <a:bodyPr>
            <a:normAutofit fontScale="62500" lnSpcReduction="2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IN" dirty="0"/>
              <a:t>Abstract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Existing System 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Proposed System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System Architecture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Project Modules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Objectives 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Co’s Attainments - FWD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IN" dirty="0"/>
              <a:t>Co1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IN" dirty="0"/>
              <a:t>Co2 …….. 5. Co5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Co’s Attainments - DSA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IN" dirty="0"/>
              <a:t>Co1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IN" dirty="0"/>
              <a:t>Co2 …….. 5. Co5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Screen Shots for FWD &amp; DSA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Conclusion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Geo-Tagged Photos</a:t>
            </a:r>
          </a:p>
          <a:p>
            <a:pPr marL="514350" indent="-514350">
              <a:buFont typeface="+mj-lt"/>
              <a:buAutoNum type="arabicPeriod"/>
            </a:pPr>
            <a:endParaRPr lang="en-IN" dirty="0"/>
          </a:p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5C2420-26C9-65B4-41BA-D5CA69721C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381120-93CB-BF4D-9125-DC4781C9106A}" type="datetime1">
              <a:rPr lang="en-IN" smtClean="0"/>
              <a:t>12-03-2026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9B4454-96E6-70D8-1440-2142487397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173030211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827BAA-7E22-F268-D9DC-5E17D9155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2393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D45DB3B1-7702-A34D-B15A-E964B95D6F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/>
          <a:lstStyle/>
          <a:p>
            <a:pPr algn="ctr"/>
            <a:r>
              <a:rPr lang="en-US" b="1" dirty="0"/>
              <a:t>Abstract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0BAA4F36-AB00-F2C4-B47F-6381355DE6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Student Personal Profile Web Portal </a:t>
            </a:r>
            <a:r>
              <a:rPr lang="en-US" dirty="0"/>
              <a:t>is a simple webpage created using HTML,CSS &amp; </a:t>
            </a:r>
            <a:r>
              <a:rPr lang="en-US" dirty="0" err="1"/>
              <a:t>Js.script</a:t>
            </a:r>
            <a:r>
              <a:rPr lang="en-US" dirty="0"/>
              <a:t> to display a student’s personal, contact, qualifications, dependent and academic details.</a:t>
            </a:r>
          </a:p>
          <a:p>
            <a:endParaRPr lang="en-US" dirty="0"/>
          </a:p>
          <a:p>
            <a:r>
              <a:rPr lang="en-US" dirty="0"/>
              <a:t> The main goal of this project is to understand basic HTML, CSS elements such as headings, paragraphs, and lists, as well as page structure. It helps beginners learn to build a simple, organized personal profile webpage and serves as a foundation for future web development.</a:t>
            </a:r>
          </a:p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5C2420-26C9-65B4-41BA-D5CA69721C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639D7-EAE1-7C4A-AC63-30DD6B16DE20}" type="datetime1">
              <a:rPr lang="en-IN" smtClean="0"/>
              <a:t>12-03-2026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9B4454-96E6-70D8-1440-2142487397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173030211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827BAA-7E22-F268-D9DC-5E17D9155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57837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D45DB3B1-7702-A34D-B15A-E964B95D6F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/>
          <a:lstStyle/>
          <a:p>
            <a:pPr algn="ctr"/>
            <a:r>
              <a:rPr lang="en-US" b="1" dirty="0"/>
              <a:t>Existing System 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0BAA4F36-AB00-F2C4-B47F-6381355DE6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Student’s Portals such as Power School, </a:t>
            </a:r>
            <a:r>
              <a:rPr lang="en-US" altLang="en-US" dirty="0" err="1">
                <a:latin typeface="Arial" panose="020B0604020202020204" pitchFamily="34" charset="0"/>
              </a:rPr>
              <a:t>openSIS</a:t>
            </a:r>
            <a:r>
              <a:rPr lang="en-US" altLang="en-US" dirty="0">
                <a:latin typeface="Arial" panose="020B0604020202020204" pitchFamily="34" charset="0"/>
              </a:rPr>
              <a:t>, School Tool does not include a tool to calculate student attendance percentage.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Students need to manually track attendance or refer to separate reports</a:t>
            </a:r>
            <a:r>
              <a:rPr lang="en-US" altLang="en-US" sz="1800" dirty="0">
                <a:latin typeface="Arial" panose="020B0604020202020204" pitchFamily="34" charset="0"/>
              </a:rPr>
              <a:t>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sz="1800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It’s also a time taking process to calculate.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5C2420-26C9-65B4-41BA-D5CA69721C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CB9F02-6AB8-A348-9013-8FCBB8174821}" type="datetime1">
              <a:rPr lang="en-IN" smtClean="0"/>
              <a:t>12-03-2026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9B4454-96E6-70D8-1440-2142487397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173030211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827BAA-7E22-F268-D9DC-5E17D9155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08333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DE7308-1D11-0801-FB87-8CFF8CD98E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2EAE696E-C5CB-1479-F98C-F7C2D0B7BE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74456"/>
            <a:ext cx="10173182" cy="1128009"/>
          </a:xfrm>
        </p:spPr>
        <p:txBody>
          <a:bodyPr/>
          <a:lstStyle/>
          <a:p>
            <a:pPr algn="ctr"/>
            <a:r>
              <a:rPr lang="en-US" b="1" dirty="0"/>
              <a:t>Proposed System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89135224-75FA-6942-7E71-50A315519F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/>
              <a:t>The proposed system is a </a:t>
            </a:r>
            <a:r>
              <a:rPr lang="en-US" b="1" dirty="0"/>
              <a:t>HTML, CSS AND </a:t>
            </a:r>
            <a:r>
              <a:rPr lang="en-US" b="1" dirty="0" err="1"/>
              <a:t>Js.script</a:t>
            </a:r>
            <a:r>
              <a:rPr lang="en-US" b="1" dirty="0"/>
              <a:t> to built this  Student Personal Profile Web Portal</a:t>
            </a:r>
            <a:r>
              <a:rPr lang="en-US" dirty="0"/>
              <a:t> that allows students to securely log in using their </a:t>
            </a:r>
            <a:r>
              <a:rPr lang="en-US" b="1" dirty="0"/>
              <a:t>student ID and password</a:t>
            </a:r>
            <a:r>
              <a:rPr lang="en-US" dirty="0"/>
              <a:t> to access their personal and academic information.</a:t>
            </a:r>
            <a:br>
              <a:rPr lang="en-US" dirty="0"/>
            </a:br>
            <a:endParaRPr lang="en-US" dirty="0"/>
          </a:p>
          <a:p>
            <a:r>
              <a:rPr lang="en-US" dirty="0"/>
              <a:t>The system provides organized sections such as </a:t>
            </a:r>
            <a:r>
              <a:rPr lang="en-US" b="1" dirty="0"/>
              <a:t>Personal Information, Academic Details, Contact Details, Address Details, Qualification Details, Dependent Details, and Timetable</a:t>
            </a:r>
            <a:r>
              <a:rPr lang="en-US" dirty="0"/>
              <a:t>, making student data easy to view.</a:t>
            </a:r>
            <a:br>
              <a:rPr lang="en-US" dirty="0"/>
            </a:br>
            <a:endParaRPr lang="en-US" dirty="0"/>
          </a:p>
          <a:p>
            <a:r>
              <a:rPr lang="en-US" dirty="0"/>
              <a:t>An </a:t>
            </a:r>
            <a:r>
              <a:rPr lang="en-US" b="1" dirty="0"/>
              <a:t>Attendance Calculator</a:t>
            </a:r>
            <a:r>
              <a:rPr lang="en-US" dirty="0"/>
              <a:t> is included for students to calculate their attendance percentage based on the number of classes conducted and attended.</a:t>
            </a:r>
            <a:br>
              <a:rPr lang="en-US" dirty="0"/>
            </a:br>
            <a:endParaRPr lang="en-US" dirty="0"/>
          </a:p>
          <a:p>
            <a:r>
              <a:rPr lang="en-US" dirty="0"/>
              <a:t>The system also includes an </a:t>
            </a:r>
            <a:r>
              <a:rPr lang="en-US" b="1" dirty="0"/>
              <a:t>Admin Login</a:t>
            </a:r>
            <a:r>
              <a:rPr lang="en-US" dirty="0"/>
              <a:t>, where the administrator can view student details by entering the student roll number.</a:t>
            </a:r>
            <a:br>
              <a:rPr lang="en-US" dirty="0"/>
            </a:br>
            <a:endParaRPr lang="en-US" dirty="0"/>
          </a:p>
          <a:p>
            <a:r>
              <a:rPr lang="en-US" dirty="0"/>
              <a:t>This system improves </a:t>
            </a:r>
            <a:r>
              <a:rPr lang="en-US" b="1" dirty="0"/>
              <a:t>data accessibility, organization, and efficiency</a:t>
            </a:r>
            <a:r>
              <a:rPr lang="en-US" dirty="0"/>
              <a:t>, making it easier for students and administrators to manage student information.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F95472-1444-D525-21F0-49779A036C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639D7-EAE1-7C4A-AC63-30DD6B16DE20}" type="datetime1">
              <a:rPr lang="en-IN" smtClean="0"/>
              <a:t>12-03-2026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E105F9-7400-1835-C4B4-B38C94DE63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173030211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9D399E1-BA43-10D5-C92A-C058676C1A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54848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DA1740-4A22-BB35-FC5B-E9B7814955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C17383E4-A635-5D2C-0BA9-6A9D4A506E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/>
          <a:lstStyle/>
          <a:p>
            <a:pPr algn="ctr"/>
            <a:r>
              <a:rPr lang="en-US" b="1" dirty="0"/>
              <a:t>System Architecture</a:t>
            </a:r>
          </a:p>
        </p:txBody>
      </p:sp>
      <p:pic>
        <p:nvPicPr>
          <p:cNvPr id="3" name="Content Placeholder 2">
            <a:extLst>
              <a:ext uri="{FF2B5EF4-FFF2-40B4-BE49-F238E27FC236}">
                <a16:creationId xmlns:a16="http://schemas.microsoft.com/office/drawing/2014/main" id="{94C45B7A-4391-C2C3-25C0-1730501C150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t="11866"/>
          <a:stretch>
            <a:fillRect/>
          </a:stretch>
        </p:blipFill>
        <p:spPr>
          <a:xfrm>
            <a:off x="3487742" y="2341983"/>
            <a:ext cx="5216516" cy="3834979"/>
          </a:xfrm>
          <a:prstGeom prst="rect">
            <a:avLst/>
          </a:prstGeom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AD3843-97BD-682A-B84E-8FDB182580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639D7-EAE1-7C4A-AC63-30DD6B16DE20}" type="datetime1">
              <a:rPr lang="en-IN" smtClean="0"/>
              <a:t>12-03-2026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A237BD-B76F-738D-5648-B271AAD579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173030211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7B2409B-FFAD-25CD-834C-0C2CA4A71B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90111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103485-1CDC-6A29-86F1-EC5F9BB7E7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2F8E0586-CE85-480D-585E-FCD3C3448C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/>
          <a:lstStyle/>
          <a:p>
            <a:pPr algn="ctr"/>
            <a:r>
              <a:rPr lang="en-US" b="1" dirty="0"/>
              <a:t>Project Modules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1890F206-B37F-761D-F471-0BF91F8897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My Web portal contains </a:t>
            </a:r>
          </a:p>
          <a:p>
            <a:r>
              <a:rPr lang="en-US" dirty="0"/>
              <a:t>A Dashboard with :  Student’s Login</a:t>
            </a:r>
          </a:p>
          <a:p>
            <a:pPr marL="0" indent="0">
              <a:buNone/>
            </a:pPr>
            <a:r>
              <a:rPr lang="en-US" dirty="0"/>
              <a:t>                                       Admin’s login</a:t>
            </a:r>
          </a:p>
          <a:p>
            <a:pPr marL="0" indent="0">
              <a:buNone/>
            </a:pPr>
            <a:r>
              <a:rPr lang="en-US" b="1" dirty="0"/>
              <a:t>When we login we can access the pages like : </a:t>
            </a:r>
          </a:p>
          <a:p>
            <a:r>
              <a:rPr lang="en-US" dirty="0"/>
              <a:t>Student’s personal details</a:t>
            </a:r>
          </a:p>
          <a:p>
            <a:r>
              <a:rPr lang="en-US" dirty="0"/>
              <a:t>Student’s timetable</a:t>
            </a:r>
          </a:p>
          <a:p>
            <a:r>
              <a:rPr lang="en-US" dirty="0"/>
              <a:t>Student’s contact details</a:t>
            </a:r>
          </a:p>
          <a:p>
            <a:r>
              <a:rPr lang="en-US" dirty="0"/>
              <a:t>Student’s dependent details</a:t>
            </a:r>
          </a:p>
          <a:p>
            <a:r>
              <a:rPr lang="en-US" dirty="0"/>
              <a:t>Student’s qualification details</a:t>
            </a:r>
          </a:p>
          <a:p>
            <a:r>
              <a:rPr lang="en-US" dirty="0"/>
              <a:t>Student’s address details</a:t>
            </a:r>
          </a:p>
          <a:p>
            <a:r>
              <a:rPr lang="en-US" dirty="0"/>
              <a:t>Student’s attendance calculator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19FF571-AABB-DBF0-2720-7F01DFDDF1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639D7-EAE1-7C4A-AC63-30DD6B16DE20}" type="datetime1">
              <a:rPr lang="en-IN" smtClean="0"/>
              <a:t>12-03-2026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AF6678-7BBF-2FBC-8619-C887BD26D4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173030211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5A9859-4671-FF5D-1356-4CDA5C5CDE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29656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173125-DE57-89FD-81B9-AA8B783FC8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787EB9E5-2196-BA25-5BC0-0ADC2050CE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/>
          <a:lstStyle/>
          <a:p>
            <a:pPr algn="ctr"/>
            <a:r>
              <a:rPr lang="en-US" b="1" dirty="0"/>
              <a:t>Objectives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363C44B8-E8B6-5D9D-90FF-ECD825D72D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dirty="0"/>
              <a:t>To develop a </a:t>
            </a:r>
            <a:r>
              <a:rPr lang="en-US" b="1" dirty="0"/>
              <a:t>Student Personal Profile Web Portal</a:t>
            </a:r>
            <a:r>
              <a:rPr lang="en-US" dirty="0"/>
              <a:t> that allows students to securely log in and view their personal and academic information.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dirty="0"/>
              <a:t>To organize student information into structured sections such as </a:t>
            </a:r>
            <a:r>
              <a:rPr lang="en-US" b="1" dirty="0"/>
              <a:t>Personal Details, Contact Details, Address Details, Qualification Details, Dependent Details, and Timetable</a:t>
            </a:r>
            <a:r>
              <a:rPr lang="en-US" dirty="0"/>
              <a:t> for easy access.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dirty="0"/>
              <a:t>To implement an </a:t>
            </a:r>
            <a:r>
              <a:rPr lang="en-US" b="1" dirty="0"/>
              <a:t>Integrated Attendance Calculator</a:t>
            </a:r>
            <a:r>
              <a:rPr lang="en-US" dirty="0"/>
              <a:t> that automatically calculates the student’s attendance percentage.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dirty="0"/>
              <a:t>To provide a </a:t>
            </a:r>
            <a:r>
              <a:rPr lang="en-US" b="1" dirty="0"/>
              <a:t>quick and easy input system</a:t>
            </a:r>
            <a:r>
              <a:rPr lang="en-US" dirty="0"/>
              <a:t> where students can enter the total number of classes conducted and attended to get immediate attendance results.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dirty="0"/>
              <a:t>To design a simple </a:t>
            </a:r>
            <a:r>
              <a:rPr lang="en-US" b="1" dirty="0"/>
              <a:t>admin access system</a:t>
            </a:r>
            <a:r>
              <a:rPr lang="en-US" dirty="0"/>
              <a:t> that enables administrators to view student details using the student roll number.</a:t>
            </a:r>
            <a:endParaRPr lang="en-US" altLang="en-US" dirty="0">
              <a:latin typeface="Arial" panose="020B0604020202020204" pitchFamily="34" charset="0"/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68B0D62-5A39-5424-9CF6-9A5122E0D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639D7-EAE1-7C4A-AC63-30DD6B16DE20}" type="datetime1">
              <a:rPr lang="en-IN" smtClean="0"/>
              <a:t>12-03-2026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7045F34-84C7-08FE-3B8E-621019BE8A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173030211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96C40D6-1BC6-8947-EA26-62259BD2C2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39859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149560-5402-A083-5191-CC2F23364A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C3A50108-EF3B-F9BF-CB25-7C4C67A41A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/>
          <a:lstStyle/>
          <a:p>
            <a:pPr algn="ctr"/>
            <a:r>
              <a:rPr lang="en-US" b="1" dirty="0"/>
              <a:t>Co’s Attainments - FWD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8769557B-A6AB-F48D-9A16-51F755A17B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457200" lvl="1" indent="0">
              <a:buNone/>
            </a:pPr>
            <a:r>
              <a:rPr lang="en-US" b="1" dirty="0"/>
              <a:t>1. CO1: Web Application Development Using HTML, CSS &amp; JavaScript</a:t>
            </a:r>
          </a:p>
          <a:p>
            <a:pPr marL="457200" lvl="1" indent="0">
              <a:buNone/>
            </a:pPr>
            <a:r>
              <a:rPr lang="en-US" dirty="0"/>
              <a:t>HTML structure, CSS styling, fonts, responsive design, and JS basics for interactivity</a:t>
            </a:r>
            <a:br>
              <a:rPr lang="en-US" dirty="0"/>
            </a:br>
            <a:r>
              <a:rPr lang="en-IN" b="1" dirty="0"/>
              <a:t>2. CO2: </a:t>
            </a:r>
            <a:r>
              <a:rPr lang="en-US" b="1" dirty="0"/>
              <a:t> Dynamic Data Display and Dashboard Design</a:t>
            </a:r>
          </a:p>
          <a:p>
            <a:pPr marL="457200" lvl="1" indent="0">
              <a:buNone/>
            </a:pPr>
            <a:r>
              <a:rPr lang="en-US" dirty="0"/>
              <a:t>Student &amp; admin dashboards, section panels, profile cards, tables, badges, and timetable display</a:t>
            </a:r>
          </a:p>
          <a:p>
            <a:pPr marL="457200" lvl="1" indent="0">
              <a:buNone/>
            </a:pPr>
            <a:r>
              <a:rPr lang="en-US" b="1" dirty="0"/>
              <a:t>3. CO3: User Authentication and Access Control</a:t>
            </a:r>
          </a:p>
          <a:p>
            <a:pPr marL="457200" lvl="1" indent="0">
              <a:buNone/>
            </a:pPr>
            <a:r>
              <a:rPr lang="en-US" dirty="0"/>
              <a:t>Student &amp; admin login modals, password validation, error handling, and role-based display</a:t>
            </a:r>
          </a:p>
          <a:p>
            <a:pPr marL="457200" lvl="1" indent="0">
              <a:buNone/>
            </a:pPr>
            <a:r>
              <a:rPr lang="en-US" b="1" dirty="0"/>
              <a:t>4. CO4: Interactive User Interface and UX Enhancements</a:t>
            </a:r>
          </a:p>
          <a:p>
            <a:pPr marL="457200" lvl="1" indent="0">
              <a:buNone/>
            </a:pPr>
            <a:r>
              <a:rPr lang="en-US" dirty="0"/>
              <a:t>Animations, hover effects, floating SVG figures, modal popups, responsive sidebar, and intuitive navigation</a:t>
            </a:r>
          </a:p>
          <a:p>
            <a:pPr marL="457200" lvl="1" indent="0">
              <a:buNone/>
            </a:pPr>
            <a:r>
              <a:rPr lang="en-US" b="1" dirty="0"/>
              <a:t>5. CO5: Data Management and Functional Tools and Functional Tools</a:t>
            </a:r>
          </a:p>
          <a:p>
            <a:pPr marL="457200" lvl="1" indent="0">
              <a:buNone/>
            </a:pPr>
            <a:r>
              <a:rPr lang="en-US" dirty="0"/>
              <a:t> Attendance calculator, search student records, structured data storage in objects, and potential for future database integration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D0E4ED-DE37-6D8E-7EB1-1F0F05E37D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639D7-EAE1-7C4A-AC63-30DD6B16DE20}" type="datetime1">
              <a:rPr lang="en-IN" smtClean="0"/>
              <a:t>12-03-2026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25EEDF-18C5-49AB-9643-7F31370592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173030211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3C038D-A939-9973-E752-364BB70EE0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69465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8A9CAF-7EB0-0890-1F26-CA3F8236AA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57E0E9F0-7414-F19D-A367-C4D70D67BC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/>
          <a:lstStyle/>
          <a:p>
            <a:pPr algn="ctr"/>
            <a:r>
              <a:rPr lang="en-US" b="1" dirty="0"/>
              <a:t>Co’s Attainments - DSA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6726AE93-69A8-DC85-DA45-05F4D66EF9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8455090" cy="4351338"/>
          </a:xfrm>
        </p:spPr>
        <p:txBody>
          <a:bodyPr>
            <a:normAutofit/>
          </a:bodyPr>
          <a:lstStyle/>
          <a:p>
            <a:pPr marL="457200" lvl="1" indent="0">
              <a:buNone/>
            </a:pPr>
            <a:r>
              <a:rPr lang="en-IN" b="1" dirty="0"/>
              <a:t>1. CO1: </a:t>
            </a:r>
            <a:r>
              <a:rPr lang="en-US" b="1" dirty="0"/>
              <a:t>Problem Analysis and Algorithmic Efficiency</a:t>
            </a:r>
            <a:endParaRPr lang="en-IN" b="1" dirty="0"/>
          </a:p>
          <a:p>
            <a:pPr marL="457200" lvl="1" indent="0">
              <a:buNone/>
            </a:pPr>
            <a:r>
              <a:rPr lang="en-US" dirty="0"/>
              <a:t>Sequential search (login), menu-based logic, attendance calculation</a:t>
            </a:r>
            <a:endParaRPr lang="en-IN" dirty="0"/>
          </a:p>
          <a:p>
            <a:pPr marL="457200" lvl="1" indent="0">
              <a:buNone/>
            </a:pPr>
            <a:r>
              <a:rPr lang="en-IN" b="1" dirty="0"/>
              <a:t>2. CO2: Abstract Data Types (ADTs)</a:t>
            </a:r>
          </a:p>
          <a:p>
            <a:pPr marL="457200" lvl="1" indent="0">
              <a:buNone/>
            </a:pPr>
            <a:r>
              <a:rPr lang="en-US" dirty="0"/>
              <a:t>Student class as ADT, dynamic storage using HashMap</a:t>
            </a:r>
          </a:p>
          <a:p>
            <a:pPr marL="457200" lvl="1" indent="0">
              <a:buNone/>
            </a:pPr>
            <a:r>
              <a:rPr lang="en-IN" b="1" dirty="0"/>
              <a:t>3. CO3: </a:t>
            </a:r>
            <a:r>
              <a:rPr lang="en-US" b="1" dirty="0"/>
              <a:t>Stacks, Queues, and Workflow Modeling</a:t>
            </a:r>
          </a:p>
          <a:p>
            <a:pPr marL="457200" lvl="1" indent="0">
              <a:buNone/>
            </a:pPr>
            <a:r>
              <a:rPr lang="en-US" dirty="0"/>
              <a:t>Stack for menu navigation, Queue for attendance requests</a:t>
            </a:r>
          </a:p>
          <a:p>
            <a:pPr marL="457200" lvl="1" indent="0">
              <a:buNone/>
            </a:pPr>
            <a:r>
              <a:rPr lang="en-US" b="1" dirty="0"/>
              <a:t>4. CO4: Hash-Based Data Structures and Java Collections</a:t>
            </a:r>
          </a:p>
          <a:p>
            <a:pPr marL="457200" lvl="1" indent="0">
              <a:buNone/>
            </a:pPr>
            <a:r>
              <a:rPr lang="en-US" dirty="0"/>
              <a:t>HashMap for credentials and student details, fast lookup</a:t>
            </a:r>
            <a:endParaRPr lang="en-IN" b="1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D1C05D-4DC9-ADC0-13CA-909E890231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639D7-EAE1-7C4A-AC63-30DD6B16DE20}" type="datetime1">
              <a:rPr lang="en-IN" smtClean="0"/>
              <a:t>12-03-2026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4CC7196-73FE-144C-6DB9-248E7AB569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173030211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194048-D768-5663-4851-89B00F981F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3658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323D68-D41B-9825-3931-B79590C795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Screenshots for FWD &amp; DSA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E3797DEA-7C4C-07CE-FD6A-D03BA04D8B1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92793" y="1825625"/>
            <a:ext cx="9206413" cy="4351338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963D1B-E2DB-29C3-BA63-FF21B16E3D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5272DB-0103-AF4C-A22D-07421EC406AD}" type="datetime1">
              <a:rPr lang="en-IN" smtClean="0"/>
              <a:t>12-03-2026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114CB5-AB44-10F9-E8AF-4658C65956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173030211           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8D5113-7B1F-AF02-CDA9-5B3AB95BE7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195371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4C5B98-00CD-FA91-1C90-42935D37C4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5EFCD49E-DAD8-E569-8AFF-1FBF2BA087B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23540" y="1834956"/>
            <a:ext cx="8144920" cy="4351338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01753D-16E5-BA15-31DE-DB572BF573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5272DB-0103-AF4C-A22D-07421EC406AD}" type="datetime1">
              <a:rPr lang="en-IN" smtClean="0"/>
              <a:t>12-03-2026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0C5B97-8B4A-5DB8-5F17-2D8F8E187D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62AEDB-D7C4-F932-420F-F35BE0E659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127668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163A63-E30E-0694-B089-838C7E389A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7E8F526A-5F54-0308-7336-A6E0816064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/>
          <a:lstStyle/>
          <a:p>
            <a:pPr algn="ctr"/>
            <a:r>
              <a:rPr lang="en-US" b="1" dirty="0"/>
              <a:t>Conclusion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956E9376-CB4B-895B-7B5C-D2F5AAED74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Developed a </a:t>
            </a:r>
            <a:r>
              <a:rPr lang="en-US" altLang="en-US" b="1" dirty="0">
                <a:latin typeface="Arial" panose="020B0604020202020204" pitchFamily="34" charset="0"/>
              </a:rPr>
              <a:t>student personal profile web portal</a:t>
            </a:r>
            <a:r>
              <a:rPr lang="en-US" altLang="en-US" dirty="0">
                <a:latin typeface="Arial" panose="020B0604020202020204" pitchFamily="34" charset="0"/>
              </a:rPr>
              <a:t> with organized, step-by-step navigation.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Maintains all student details including personal, academic, dependent, and contact information.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>
                <a:latin typeface="Arial" panose="020B0604020202020204" pitchFamily="34" charset="0"/>
              </a:rPr>
              <a:t>Attendance Calculator</a:t>
            </a:r>
            <a:r>
              <a:rPr lang="en-US" altLang="en-US" dirty="0">
                <a:latin typeface="Arial" panose="020B0604020202020204" pitchFamily="34" charset="0"/>
              </a:rPr>
              <a:t> added for easy calculation of attendance percentage.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User-friendly interface provides a more interactive and accessible experience.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Acts as a </a:t>
            </a:r>
            <a:r>
              <a:rPr lang="en-US" altLang="en-US" b="1" dirty="0">
                <a:latin typeface="Arial" panose="020B0604020202020204" pitchFamily="34" charset="0"/>
              </a:rPr>
              <a:t>complementary tool</a:t>
            </a:r>
            <a:r>
              <a:rPr lang="en-US" altLang="en-US" dirty="0">
                <a:latin typeface="Arial" panose="020B0604020202020204" pitchFamily="34" charset="0"/>
              </a:rPr>
              <a:t> to existing systems like Student portals like Power School, </a:t>
            </a:r>
            <a:r>
              <a:rPr lang="en-US" altLang="en-US" dirty="0" err="1">
                <a:latin typeface="Arial" panose="020B0604020202020204" pitchFamily="34" charset="0"/>
              </a:rPr>
              <a:t>openSIS</a:t>
            </a:r>
            <a:r>
              <a:rPr lang="en-US" altLang="en-US" dirty="0">
                <a:latin typeface="Arial" panose="020B0604020202020204" pitchFamily="34" charset="0"/>
              </a:rPr>
              <a:t>, School Tool  for students.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Enhances efficiency in tracking and managing student data in a modern way.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2A84C9A-73D1-DA76-6E0C-91C24CB832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639D7-EAE1-7C4A-AC63-30DD6B16DE20}" type="datetime1">
              <a:rPr lang="en-IN" smtClean="0"/>
              <a:t>12-03-2026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81726C-C351-8876-43C7-C9B8807EA5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173030211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6E4E02D-0287-0F0D-A891-AE869E4F09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891217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848258-F0F3-1EE4-1AB3-DB04AD69EB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9961B8-8709-0718-F6D3-9D07622F76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Geo- Tag Photos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816DE9FC-47D6-274E-DFDC-E898F9A8C90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195108" y="1825625"/>
            <a:ext cx="5801784" cy="4351338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18EAAE-4073-261B-4850-9857C07DBA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5272DB-0103-AF4C-A22D-07421EC406AD}" type="datetime1">
              <a:rPr lang="en-IN" smtClean="0"/>
              <a:t>12-03-2026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CA2172-0EFE-3ADA-47FA-029EF21AB5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173030211           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E9B8A7-6131-D012-7DA4-A9F36B2B15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7199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87C7B5-EC1D-D69C-C8AF-E9BEC4BE4A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5A6417FB-BF8C-ECA6-DDB3-C4D6283BBC5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195108" y="1825625"/>
            <a:ext cx="5801784" cy="4351338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64073F-ED17-954D-4DFD-CA9510FF60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5272DB-0103-AF4C-A22D-07421EC406AD}" type="datetime1">
              <a:rPr lang="en-IN" smtClean="0"/>
              <a:t>12-03-2026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AD658E-7289-BDC7-8D17-D1A8306BD8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072A63-1772-6165-4391-27971CD534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248328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20E875-7DE0-2B3F-0CFC-DA7D633CC6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45209C-CACF-88CB-FFE7-16BEF88F82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5272DB-0103-AF4C-A22D-07421EC406AD}" type="datetime1">
              <a:rPr lang="en-IN" smtClean="0"/>
              <a:t>12-03-2026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6451AD-0411-94AF-425E-76D175DDFE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6113FA-29B4-D99A-E071-007772BC01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17</a:t>
            </a:fld>
            <a:endParaRPr lang="en-US"/>
          </a:p>
        </p:txBody>
      </p:sp>
      <p:pic>
        <p:nvPicPr>
          <p:cNvPr id="12" name="Content Placeholder 11">
            <a:extLst>
              <a:ext uri="{FF2B5EF4-FFF2-40B4-BE49-F238E27FC236}">
                <a16:creationId xmlns:a16="http://schemas.microsoft.com/office/drawing/2014/main" id="{4DC77AE2-45C8-ABDE-A38A-BC57FE01554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195108" y="1825625"/>
            <a:ext cx="5801784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664266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0BAA4F36-AB00-F2C4-B47F-6381355DE6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40780"/>
            <a:ext cx="10515600" cy="5436183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IN" dirty="0"/>
          </a:p>
          <a:p>
            <a:pPr marL="0" indent="0" algn="ctr">
              <a:buNone/>
            </a:pPr>
            <a:endParaRPr lang="en-IN" sz="4400" dirty="0"/>
          </a:p>
          <a:p>
            <a:pPr marL="0" indent="0" algn="ctr">
              <a:buNone/>
            </a:pPr>
            <a:endParaRPr lang="en-IN" sz="4400" dirty="0"/>
          </a:p>
          <a:p>
            <a:pPr marL="0" indent="0" algn="ctr">
              <a:buNone/>
            </a:pPr>
            <a:r>
              <a:rPr lang="en-IN" sz="4400" dirty="0"/>
              <a:t>THANK YOU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5C2420-26C9-65B4-41BA-D5CA69721C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AD6276-EBF6-BB4A-A6C6-114A8D55B891}" type="datetime1">
              <a:rPr lang="en-IN" smtClean="0"/>
              <a:t>12-03-2026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9B4454-96E6-70D8-1440-2142487397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173030211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827BAA-7E22-F268-D9DC-5E17D9155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39582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3699</TotalTime>
  <Words>1055</Words>
  <Application>Microsoft Office PowerPoint</Application>
  <PresentationFormat>Widescreen</PresentationFormat>
  <Paragraphs>156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18</vt:i4>
      </vt:variant>
    </vt:vector>
  </HeadingPairs>
  <TitlesOfParts>
    <vt:vector size="24" baseType="lpstr">
      <vt:lpstr>Arial</vt:lpstr>
      <vt:lpstr>Calibri</vt:lpstr>
      <vt:lpstr>Calibri Light</vt:lpstr>
      <vt:lpstr>Google Sans</vt:lpstr>
      <vt:lpstr>Office Theme</vt:lpstr>
      <vt:lpstr>Custom Design</vt:lpstr>
      <vt:lpstr>INSTRUCTIONS</vt:lpstr>
      <vt:lpstr>Title: Student Personal Profile Web Portal</vt:lpstr>
      <vt:lpstr>OUTLINE</vt:lpstr>
      <vt:lpstr>Abstract</vt:lpstr>
      <vt:lpstr>Existing System </vt:lpstr>
      <vt:lpstr>Proposed System</vt:lpstr>
      <vt:lpstr>System Architecture</vt:lpstr>
      <vt:lpstr>Project Modules</vt:lpstr>
      <vt:lpstr>Objectives</vt:lpstr>
      <vt:lpstr>Co’s Attainments - FWD</vt:lpstr>
      <vt:lpstr>Co’s Attainments - DSA</vt:lpstr>
      <vt:lpstr>Screenshots for FWD &amp; DSA</vt:lpstr>
      <vt:lpstr>PowerPoint Presentation</vt:lpstr>
      <vt:lpstr>Conclusion</vt:lpstr>
      <vt:lpstr>Geo- Tag Photos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Dr. SHAHANA BANO</dc:creator>
  <cp:lastModifiedBy>anusrirajesh1213@outlook.com</cp:lastModifiedBy>
  <cp:revision>56</cp:revision>
  <dcterms:created xsi:type="dcterms:W3CDTF">2022-05-20T10:20:31Z</dcterms:created>
  <dcterms:modified xsi:type="dcterms:W3CDTF">2026-03-12T05:16:29Z</dcterms:modified>
</cp:coreProperties>
</file>